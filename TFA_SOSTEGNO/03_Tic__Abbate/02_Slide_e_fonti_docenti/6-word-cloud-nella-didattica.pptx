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>
      <p:cViewPr varScale="1">
        <p:scale>
          <a:sx n="67" d="100"/>
          <a:sy n="67" d="100"/>
        </p:scale>
        <p:origin x="-1488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9533466-EE66-41FA-80A6-A78BB9BF0137}" type="datetimeFigureOut">
              <a:rPr lang="it-IT" smtClean="0"/>
              <a:t>11/07/2025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BB2BC94-CAE3-4BAE-A957-B47C2A407E4D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art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tagxedo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bcya.com/games/word_cloud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hyperlink" Target="https://www.wordle.net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55576" y="1340768"/>
            <a:ext cx="7848600" cy="1927225"/>
          </a:xfrm>
        </p:spPr>
        <p:txBody>
          <a:bodyPr/>
          <a:lstStyle/>
          <a:p>
            <a:pPr algn="ctr"/>
            <a:r>
              <a:rPr lang="it-IT" dirty="0" smtClean="0"/>
              <a:t>Word </a:t>
            </a:r>
            <a:r>
              <a:rPr lang="it-IT" dirty="0" err="1" smtClean="0"/>
              <a:t>Cloud</a:t>
            </a:r>
            <a:r>
              <a:rPr lang="it-IT" dirty="0" smtClean="0"/>
              <a:t> nella Didattica</a:t>
            </a:r>
            <a:endParaRPr lang="it-IT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717032"/>
            <a:ext cx="2765600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729012"/>
            <a:ext cx="3730014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76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569" y="3717032"/>
            <a:ext cx="3499491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tangolo 1"/>
          <p:cNvSpPr/>
          <p:nvPr/>
        </p:nvSpPr>
        <p:spPr>
          <a:xfrm>
            <a:off x="246410" y="715184"/>
            <a:ext cx="5009237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300" dirty="0">
                <a:solidFill>
                  <a:srgbClr val="2F5598"/>
                </a:solidFill>
              </a:rPr>
              <a:t>Le nuvole di parole, o word </a:t>
            </a:r>
            <a:r>
              <a:rPr lang="it-IT" sz="2300" dirty="0" err="1">
                <a:solidFill>
                  <a:srgbClr val="2F5598"/>
                </a:solidFill>
              </a:rPr>
              <a:t>cloud</a:t>
            </a:r>
            <a:r>
              <a:rPr lang="it-IT" sz="2300" dirty="0">
                <a:solidFill>
                  <a:srgbClr val="2F5598"/>
                </a:solidFill>
              </a:rPr>
              <a:t>, sono immagini </a:t>
            </a:r>
            <a:r>
              <a:rPr lang="it-IT" sz="2300" dirty="0" smtClean="0">
                <a:solidFill>
                  <a:srgbClr val="2F5598"/>
                </a:solidFill>
              </a:rPr>
              <a:t>composte appunto </a:t>
            </a:r>
            <a:r>
              <a:rPr lang="it-IT" sz="2300" dirty="0">
                <a:solidFill>
                  <a:srgbClr val="2F5598"/>
                </a:solidFill>
              </a:rPr>
              <a:t>da parole, la cui dimensione varia in base alla </a:t>
            </a:r>
            <a:r>
              <a:rPr lang="it-IT" sz="2300" dirty="0" smtClean="0">
                <a:solidFill>
                  <a:srgbClr val="2F5598"/>
                </a:solidFill>
              </a:rPr>
              <a:t>frequenza con </a:t>
            </a:r>
            <a:r>
              <a:rPr lang="it-IT" sz="2300" dirty="0">
                <a:solidFill>
                  <a:srgbClr val="2F5598"/>
                </a:solidFill>
              </a:rPr>
              <a:t>cui esse ricorrono, che possono essere realizzate grazie </a:t>
            </a:r>
            <a:r>
              <a:rPr lang="it-IT" sz="2300" dirty="0" smtClean="0">
                <a:solidFill>
                  <a:srgbClr val="2F5598"/>
                </a:solidFill>
              </a:rPr>
              <a:t>ad alcune </a:t>
            </a:r>
            <a:r>
              <a:rPr lang="it-IT" sz="2300" dirty="0">
                <a:solidFill>
                  <a:srgbClr val="2F5598"/>
                </a:solidFill>
              </a:rPr>
              <a:t>applicazioni gratuite reperibili online. Le parole </a:t>
            </a:r>
            <a:r>
              <a:rPr lang="it-IT" sz="2300" dirty="0" smtClean="0">
                <a:solidFill>
                  <a:srgbClr val="2F5598"/>
                </a:solidFill>
              </a:rPr>
              <a:t>possono essere </a:t>
            </a:r>
            <a:r>
              <a:rPr lang="it-IT" sz="2300" dirty="0">
                <a:solidFill>
                  <a:srgbClr val="2F5598"/>
                </a:solidFill>
              </a:rPr>
              <a:t>aggiunte manualmente, per creare </a:t>
            </a:r>
            <a:r>
              <a:rPr lang="it-IT" sz="2300" dirty="0" smtClean="0">
                <a:solidFill>
                  <a:srgbClr val="2F5598"/>
                </a:solidFill>
              </a:rPr>
              <a:t>un’immagine personalizzata</a:t>
            </a:r>
            <a:r>
              <a:rPr lang="it-IT" sz="2300" dirty="0">
                <a:solidFill>
                  <a:srgbClr val="2F5598"/>
                </a:solidFill>
              </a:rPr>
              <a:t>, come ad esempio un biglietto di auguri o </a:t>
            </a:r>
            <a:r>
              <a:rPr lang="it-IT" sz="2300" dirty="0" smtClean="0">
                <a:solidFill>
                  <a:srgbClr val="2F5598"/>
                </a:solidFill>
              </a:rPr>
              <a:t>una dedica</a:t>
            </a:r>
            <a:r>
              <a:rPr lang="it-IT" sz="2300" dirty="0">
                <a:solidFill>
                  <a:srgbClr val="2F5598"/>
                </a:solidFill>
              </a:rPr>
              <a:t>, oppure si può riportare il testo da una fonte esterna.</a:t>
            </a:r>
          </a:p>
          <a:p>
            <a:pPr algn="just"/>
            <a:r>
              <a:rPr lang="it-IT" sz="2300" dirty="0">
                <a:solidFill>
                  <a:srgbClr val="2F5598"/>
                </a:solidFill>
              </a:rPr>
              <a:t>Inoltre alcuni siti offrono la possibilità di modificare il colore e </a:t>
            </a:r>
            <a:r>
              <a:rPr lang="it-IT" sz="2300" dirty="0" smtClean="0">
                <a:solidFill>
                  <a:srgbClr val="2F5598"/>
                </a:solidFill>
              </a:rPr>
              <a:t>il font </a:t>
            </a:r>
            <a:r>
              <a:rPr lang="it-IT" sz="2300" dirty="0">
                <a:solidFill>
                  <a:srgbClr val="2F5598"/>
                </a:solidFill>
              </a:rPr>
              <a:t>delle parole e la forma in cui inserirle.</a:t>
            </a:r>
            <a:endParaRPr lang="it-IT" sz="2300" dirty="0"/>
          </a:p>
        </p:txBody>
      </p:sp>
      <p:sp>
        <p:nvSpPr>
          <p:cNvPr id="3" name="Rettangolo 2"/>
          <p:cNvSpPr/>
          <p:nvPr/>
        </p:nvSpPr>
        <p:spPr>
          <a:xfrm>
            <a:off x="6084168" y="836712"/>
            <a:ext cx="28018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000" b="1" i="0" u="none" strike="noStrike" baseline="0" dirty="0" smtClean="0">
                <a:solidFill>
                  <a:srgbClr val="2F5598"/>
                </a:solidFill>
                <a:latin typeface="+mj-lt"/>
              </a:rPr>
              <a:t>NUVOLE DI PAROLE O WORD CLOUD:</a:t>
            </a:r>
          </a:p>
          <a:p>
            <a:pPr algn="ctr"/>
            <a:endParaRPr lang="it-IT" sz="2000" b="1" i="0" u="none" strike="noStrike" baseline="0" dirty="0" smtClean="0">
              <a:solidFill>
                <a:srgbClr val="2F5598"/>
              </a:solidFill>
              <a:latin typeface="+mj-lt"/>
            </a:endParaRPr>
          </a:p>
          <a:p>
            <a:pPr algn="ctr"/>
            <a:r>
              <a:rPr lang="it-IT" sz="2000" b="1" i="0" u="none" strike="noStrike" baseline="0" dirty="0" smtClean="0">
                <a:solidFill>
                  <a:srgbClr val="2F5598"/>
                </a:solidFill>
                <a:latin typeface="+mj-lt"/>
              </a:rPr>
              <a:t>PERCHÉ E COME UTILIZZARLE A SCUOLA</a:t>
            </a:r>
            <a:endParaRPr lang="it-IT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2305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41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1556792"/>
            <a:ext cx="8989543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1423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7" y="139450"/>
            <a:ext cx="9144000" cy="683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tangolo 1"/>
          <p:cNvSpPr/>
          <p:nvPr/>
        </p:nvSpPr>
        <p:spPr>
          <a:xfrm>
            <a:off x="53751" y="1599183"/>
            <a:ext cx="22108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hlinkClick r:id="rId3"/>
              </a:rPr>
              <a:t>https://wordart.com</a:t>
            </a:r>
            <a:r>
              <a:rPr lang="it-IT" dirty="0" smtClean="0">
                <a:hlinkClick r:id="rId3"/>
              </a:rPr>
              <a:t>/</a:t>
            </a:r>
            <a:endParaRPr lang="it-IT" dirty="0" smtClean="0"/>
          </a:p>
          <a:p>
            <a:endParaRPr lang="it-IT" dirty="0"/>
          </a:p>
        </p:txBody>
      </p:sp>
      <p:sp>
        <p:nvSpPr>
          <p:cNvPr id="3" name="Rettangolo 2"/>
          <p:cNvSpPr/>
          <p:nvPr/>
        </p:nvSpPr>
        <p:spPr>
          <a:xfrm>
            <a:off x="1811114" y="4880570"/>
            <a:ext cx="2698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hlinkClick r:id="rId4"/>
              </a:rPr>
              <a:t>http://www.tagxedo.com</a:t>
            </a:r>
            <a:r>
              <a:rPr lang="it-IT" dirty="0" smtClean="0">
                <a:hlinkClick r:id="rId4"/>
              </a:rPr>
              <a:t>/</a:t>
            </a:r>
            <a:endParaRPr lang="it-IT" dirty="0" smtClean="0"/>
          </a:p>
          <a:p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2273145" y="2060848"/>
            <a:ext cx="5842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</a:rPr>
              <a:t>https://youtu.be/XStvJB7TWfA?si=9Twk5JNnQAVclZpZ</a:t>
            </a:r>
          </a:p>
        </p:txBody>
      </p:sp>
    </p:spTree>
    <p:extLst>
      <p:ext uri="{BB962C8B-B14F-4D97-AF65-F5344CB8AC3E}">
        <p14:creationId xmlns:p14="http://schemas.microsoft.com/office/powerpoint/2010/main" val="168966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925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502852" y="49862"/>
            <a:ext cx="48245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hlinkClick r:id="rId3"/>
              </a:rPr>
              <a:t>https://</a:t>
            </a:r>
            <a:r>
              <a:rPr lang="it-IT" dirty="0" smtClean="0">
                <a:hlinkClick r:id="rId3"/>
              </a:rPr>
              <a:t>www.abcya.com/games/word_clouds</a:t>
            </a:r>
            <a:endParaRPr lang="it-IT" dirty="0" smtClean="0"/>
          </a:p>
          <a:p>
            <a:endParaRPr lang="it-IT" dirty="0"/>
          </a:p>
        </p:txBody>
      </p:sp>
      <p:sp>
        <p:nvSpPr>
          <p:cNvPr id="3" name="Rettangolo 2"/>
          <p:cNvSpPr/>
          <p:nvPr/>
        </p:nvSpPr>
        <p:spPr>
          <a:xfrm>
            <a:off x="1656258" y="2564904"/>
            <a:ext cx="25571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hlinkClick r:id="rId4"/>
              </a:rPr>
              <a:t>https://www.wordle.net</a:t>
            </a:r>
            <a:r>
              <a:rPr lang="it-IT" dirty="0" smtClean="0">
                <a:hlinkClick r:id="rId4"/>
              </a:rPr>
              <a:t>/</a:t>
            </a:r>
            <a:endParaRPr lang="it-IT" dirty="0" smtClean="0"/>
          </a:p>
          <a:p>
            <a:endParaRPr lang="it-IT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25144"/>
            <a:ext cx="6564313" cy="1932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659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8" y="0"/>
            <a:ext cx="9144000" cy="659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8049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002" y="2780928"/>
            <a:ext cx="3714999" cy="371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79512" y="1988840"/>
            <a:ext cx="532859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400" b="1" i="0" u="none" strike="noStrike" baseline="0" dirty="0" smtClean="0">
                <a:solidFill>
                  <a:srgbClr val="2F5598"/>
                </a:solidFill>
                <a:latin typeface="Calibri-Bold"/>
              </a:rPr>
              <a:t>lingue straniere:</a:t>
            </a:r>
          </a:p>
          <a:p>
            <a:pPr algn="just"/>
            <a:endParaRPr lang="it-IT" sz="2400" b="1" i="0" u="none" strike="noStrike" baseline="0" dirty="0" smtClean="0">
              <a:solidFill>
                <a:srgbClr val="2F5598"/>
              </a:solidFill>
              <a:latin typeface="Calibri-Bold"/>
            </a:endParaRPr>
          </a:p>
          <a:p>
            <a:pPr algn="just"/>
            <a:r>
              <a:rPr lang="it-IT" sz="2400" b="0" i="0" u="none" strike="noStrike" baseline="0" dirty="0" smtClean="0">
                <a:solidFill>
                  <a:srgbClr val="2F5598"/>
                </a:solidFill>
                <a:latin typeface="ArialMT"/>
              </a:rPr>
              <a:t>• </a:t>
            </a:r>
            <a:r>
              <a:rPr lang="it-IT" sz="2400" b="0" i="0" u="none" strike="noStrike" baseline="0" dirty="0" smtClean="0">
                <a:solidFill>
                  <a:srgbClr val="2F5598"/>
                </a:solidFill>
                <a:latin typeface="Calibri"/>
              </a:rPr>
              <a:t>creare nuvole di parole contenenti nuovi termini da far</a:t>
            </a:r>
            <a:r>
              <a:rPr lang="it-IT" sz="2400" b="0" i="0" u="none" strike="noStrike" dirty="0" smtClean="0">
                <a:solidFill>
                  <a:srgbClr val="2F5598"/>
                </a:solidFill>
                <a:latin typeface="Calibri"/>
              </a:rPr>
              <a:t>  </a:t>
            </a:r>
            <a:r>
              <a:rPr lang="it-IT" sz="2400" b="0" i="0" u="none" strike="noStrike" baseline="0" dirty="0" smtClean="0">
                <a:solidFill>
                  <a:srgbClr val="2F5598"/>
                </a:solidFill>
                <a:latin typeface="Calibri"/>
              </a:rPr>
              <a:t>apprendere ai propri studenti;</a:t>
            </a:r>
          </a:p>
          <a:p>
            <a:pPr algn="just"/>
            <a:r>
              <a:rPr lang="it-IT" sz="2400" b="0" i="0" u="none" strike="noStrike" baseline="0" dirty="0" smtClean="0">
                <a:solidFill>
                  <a:srgbClr val="2F5598"/>
                </a:solidFill>
                <a:latin typeface="ArialMT"/>
              </a:rPr>
              <a:t>• </a:t>
            </a:r>
            <a:r>
              <a:rPr lang="it-IT" sz="2400" b="0" i="0" u="none" strike="noStrike" baseline="0" dirty="0" smtClean="0">
                <a:solidFill>
                  <a:srgbClr val="2F5598"/>
                </a:solidFill>
                <a:latin typeface="Calibri"/>
              </a:rPr>
              <a:t>raggruppare in un’unica immagine tutte le parole con la</a:t>
            </a:r>
            <a:r>
              <a:rPr lang="it-IT" sz="2400" b="0" i="0" u="none" strike="noStrike" dirty="0" smtClean="0">
                <a:solidFill>
                  <a:srgbClr val="2F5598"/>
                </a:solidFill>
                <a:latin typeface="Calibri"/>
              </a:rPr>
              <a:t> </a:t>
            </a:r>
            <a:r>
              <a:rPr lang="it-IT" sz="2400" b="0" i="0" u="none" strike="noStrike" baseline="0" dirty="0" smtClean="0">
                <a:solidFill>
                  <a:srgbClr val="2F5598"/>
                </a:solidFill>
                <a:latin typeface="Calibri"/>
              </a:rPr>
              <a:t>stessa pronuncia</a:t>
            </a:r>
            <a:r>
              <a:rPr lang="it-IT" b="0" i="0" u="none" strike="noStrike" baseline="0" dirty="0" smtClean="0">
                <a:solidFill>
                  <a:srgbClr val="2F5598"/>
                </a:solidFill>
                <a:latin typeface="Calibri"/>
              </a:rPr>
              <a:t>.</a:t>
            </a:r>
            <a:endParaRPr lang="it-IT" dirty="0"/>
          </a:p>
        </p:txBody>
      </p:sp>
      <p:sp>
        <p:nvSpPr>
          <p:cNvPr id="3" name="Rettangolo 2"/>
          <p:cNvSpPr/>
          <p:nvPr/>
        </p:nvSpPr>
        <p:spPr>
          <a:xfrm>
            <a:off x="2411760" y="476672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it-IT" sz="2800" b="1" i="0" u="none" strike="noStrike" baseline="0" dirty="0" smtClean="0">
                <a:solidFill>
                  <a:srgbClr val="2F5598"/>
                </a:solidFill>
                <a:latin typeface="Calibri-Bold"/>
              </a:rPr>
              <a:t>Spunti pratici per attività da</a:t>
            </a:r>
            <a:r>
              <a:rPr lang="it-IT" sz="2800" b="1" i="0" u="none" strike="noStrike" dirty="0" smtClean="0">
                <a:solidFill>
                  <a:srgbClr val="2F5598"/>
                </a:solidFill>
                <a:latin typeface="Calibri-Bold"/>
              </a:rPr>
              <a:t> </a:t>
            </a:r>
            <a:r>
              <a:rPr lang="it-IT" sz="2800" b="1" i="0" u="none" strike="noStrike" baseline="0" dirty="0" smtClean="0">
                <a:solidFill>
                  <a:srgbClr val="2F5598"/>
                </a:solidFill>
                <a:latin typeface="Calibri-Bold"/>
              </a:rPr>
              <a:t>svolgere in classe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342858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" y="404664"/>
            <a:ext cx="6289354" cy="3815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tangolo 1"/>
          <p:cNvSpPr/>
          <p:nvPr/>
        </p:nvSpPr>
        <p:spPr>
          <a:xfrm>
            <a:off x="179512" y="4653136"/>
            <a:ext cx="4572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sz="2000" b="1" i="0" u="none" strike="noStrike" baseline="0" dirty="0" smtClean="0">
                <a:solidFill>
                  <a:srgbClr val="2F5598"/>
                </a:solidFill>
                <a:latin typeface="Calibri-Bold"/>
              </a:rPr>
              <a:t>Matematica:</a:t>
            </a:r>
          </a:p>
          <a:p>
            <a:endParaRPr lang="it-IT" sz="2400" b="1" i="0" u="none" strike="noStrike" baseline="0" dirty="0" smtClean="0">
              <a:solidFill>
                <a:srgbClr val="2F5598"/>
              </a:solidFill>
              <a:latin typeface="Calibri-Bold"/>
            </a:endParaRPr>
          </a:p>
          <a:p>
            <a:r>
              <a:rPr lang="it-IT" sz="1900" b="0" i="0" u="none" strike="noStrike" baseline="0" dirty="0" smtClean="0">
                <a:solidFill>
                  <a:srgbClr val="0070C0"/>
                </a:solidFill>
                <a:latin typeface="Calibri"/>
              </a:rPr>
              <a:t>utilizzare word </a:t>
            </a:r>
            <a:r>
              <a:rPr lang="it-IT" sz="1900" b="0" i="0" u="none" strike="noStrike" baseline="0" dirty="0" err="1" smtClean="0">
                <a:solidFill>
                  <a:srgbClr val="0070C0"/>
                </a:solidFill>
                <a:latin typeface="Calibri"/>
              </a:rPr>
              <a:t>clouds</a:t>
            </a:r>
            <a:r>
              <a:rPr lang="it-IT" sz="1900" b="0" i="0" u="none" strike="noStrike" baseline="0" dirty="0" smtClean="0">
                <a:solidFill>
                  <a:srgbClr val="0070C0"/>
                </a:solidFill>
                <a:latin typeface="Calibri"/>
              </a:rPr>
              <a:t> per mostrare proporzioni e scale.</a:t>
            </a:r>
            <a:endParaRPr lang="it-IT" sz="1900" dirty="0">
              <a:solidFill>
                <a:srgbClr val="0070C0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014397"/>
            <a:ext cx="2818059" cy="280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8857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9" y="476672"/>
            <a:ext cx="3238500" cy="600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239" y="1340768"/>
            <a:ext cx="5902727" cy="3929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7653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152525"/>
            <a:ext cx="8858250" cy="455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64027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iaro">
  <a:themeElements>
    <a:clrScheme name="Chiaro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ia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680</TotalTime>
  <Words>182</Words>
  <Application>Microsoft Office PowerPoint</Application>
  <PresentationFormat>Presentazione su schermo (4:3)</PresentationFormat>
  <Paragraphs>19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2" baseType="lpstr">
      <vt:lpstr>Chiaro</vt:lpstr>
      <vt:lpstr>Word Cloud nella Didattica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Cloud nella Didattica</dc:title>
  <dc:creator>Utente pc</dc:creator>
  <cp:lastModifiedBy>Utente pc</cp:lastModifiedBy>
  <cp:revision>11</cp:revision>
  <dcterms:created xsi:type="dcterms:W3CDTF">2025-02-11T18:11:47Z</dcterms:created>
  <dcterms:modified xsi:type="dcterms:W3CDTF">2025-07-11T11:43:07Z</dcterms:modified>
</cp:coreProperties>
</file>