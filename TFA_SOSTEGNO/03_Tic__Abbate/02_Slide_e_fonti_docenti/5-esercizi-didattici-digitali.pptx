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59" r:id="rId2"/>
    <p:sldId id="263" r:id="rId3"/>
    <p:sldId id="264" r:id="rId4"/>
    <p:sldId id="265" r:id="rId5"/>
    <p:sldId id="324" r:id="rId6"/>
    <p:sldId id="327" r:id="rId7"/>
    <p:sldId id="328" r:id="rId8"/>
    <p:sldId id="325" r:id="rId9"/>
    <p:sldId id="258" r:id="rId10"/>
    <p:sldId id="329" r:id="rId11"/>
    <p:sldId id="330" r:id="rId12"/>
    <p:sldId id="331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3A980"/>
    <a:srgbClr val="00CC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7" d="100"/>
          <a:sy n="67" d="100"/>
        </p:scale>
        <p:origin x="-1476" y="-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F4BBCD-62D4-423A-A0C6-8AB546AA8894}" type="datetimeFigureOut">
              <a:rPr lang="it-IT" smtClean="0"/>
              <a:t>06/09/2025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7CEBD4-D5E7-43DB-B23C-1E6F16E8D87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452438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7CEBD4-D5E7-43DB-B23C-1E6F16E8D87E}" type="slidenum">
              <a:rPr lang="it-IT" smtClean="0"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310538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777240" y="0"/>
            <a:ext cx="7543800" cy="304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3200400"/>
            <a:ext cx="7543800" cy="1524000"/>
          </a:xfrm>
        </p:spPr>
        <p:txBody>
          <a:bodyPr>
            <a:noAutofit/>
          </a:bodyPr>
          <a:lstStyle>
            <a:lvl1pPr>
              <a:defRPr sz="8000"/>
            </a:lvl1pPr>
          </a:lstStyle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4724400"/>
            <a:ext cx="6858000" cy="990600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8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smtClean="0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84F94-57A3-4B7D-8796-9AE439D9A6C3}" type="datetime1">
              <a:rPr lang="en-US" smtClean="0"/>
              <a:t>9/6/2025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EB0A-9E3D-4B14-9782-E2AE3DA60D96}" type="slidenum">
              <a:rPr lang="en-US" smtClean="0"/>
              <a:pPr/>
              <a:t>‹N›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7240" y="6172200"/>
            <a:ext cx="7543800" cy="274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4E383-AD07-4E18-ABCD-75FF94D31563}" type="datetime1">
              <a:rPr lang="en-US" smtClean="0"/>
              <a:t>9/6/2025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EB0A-9E3D-4B14-9782-E2AE3DA60D96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777240" y="0"/>
            <a:ext cx="7543800" cy="304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276600"/>
            <a:ext cx="7543800" cy="1676400"/>
          </a:xfrm>
        </p:spPr>
        <p:txBody>
          <a:bodyPr anchor="b" anchorCtr="0"/>
          <a:lstStyle>
            <a:lvl1pPr algn="l">
              <a:defRPr sz="5400" b="0" cap="all"/>
            </a:lvl1pPr>
          </a:lstStyle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4953000"/>
            <a:ext cx="6858000" cy="914400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4913A-945A-4C22-81DB-4B0AA6E49EC8}" type="datetime1">
              <a:rPr lang="en-US" smtClean="0"/>
              <a:t>9/6/2025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EB0A-9E3D-4B14-9782-E2AE3DA60D96}" type="slidenum">
              <a:rPr lang="en-US" smtClean="0"/>
              <a:pPr/>
              <a:t>‹N›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7240" y="6172200"/>
            <a:ext cx="7543800" cy="274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0" y="609601"/>
            <a:ext cx="3657600" cy="376732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609601"/>
            <a:ext cx="3657600" cy="376732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B1B4E-2129-4CC8-A22D-1729FE6AAE74}" type="datetime1">
              <a:rPr lang="en-US" smtClean="0"/>
              <a:t>9/6/2025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EB0A-9E3D-4B14-9782-E2AE3DA60D96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609600"/>
            <a:ext cx="3657600" cy="6397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8952" y="1329264"/>
            <a:ext cx="3657600" cy="3048000"/>
          </a:xfrm>
        </p:spPr>
        <p:txBody>
          <a:bodyPr anchor="t" anchorCtr="0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152" y="609600"/>
            <a:ext cx="3657600" cy="6397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152" y="1329264"/>
            <a:ext cx="3657600" cy="3048000"/>
          </a:xfrm>
        </p:spPr>
        <p:txBody>
          <a:bodyPr anchor="t" anchorCtr="0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45CE1-8BDE-45C0-A6B2-9AB985F5E58F}" type="datetime1">
              <a:rPr lang="en-US" smtClean="0"/>
              <a:t>9/6/2025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EB0A-9E3D-4B14-9782-E2AE3DA60D96}" type="slidenum">
              <a:rPr lang="en-US" smtClean="0"/>
              <a:pPr/>
              <a:t>‹N›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758952" y="1249362"/>
            <a:ext cx="3657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645152" y="1249362"/>
            <a:ext cx="3657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92A23-FE53-4735-8EE9-A278B1D6BEDF}" type="datetime1">
              <a:rPr lang="en-US" smtClean="0"/>
              <a:t>9/6/2025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EB0A-9E3D-4B14-9782-E2AE3DA60D96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A1EE6-40E8-41A8-807A-B9ED490F4644}" type="datetime1">
              <a:rPr lang="en-US" smtClean="0"/>
              <a:t>9/6/2025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EB0A-9E3D-4B14-9782-E2AE3DA60D96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572000"/>
            <a:ext cx="6784848" cy="1600200"/>
          </a:xfrm>
        </p:spPr>
        <p:txBody>
          <a:bodyPr anchor="b">
            <a:normAutofit/>
          </a:bodyPr>
          <a:lstStyle>
            <a:lvl1pPr algn="l">
              <a:defRPr sz="5400" b="0"/>
            </a:lvl1pPr>
          </a:lstStyle>
          <a:p>
            <a:r>
              <a:rPr lang="it-IT" smtClean="0"/>
              <a:t>Fare clic per modificare lo stile del titolo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0866" y="457200"/>
            <a:ext cx="4594934" cy="4114799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2001" y="457200"/>
            <a:ext cx="2673657" cy="4114800"/>
          </a:xfrm>
        </p:spPr>
        <p:txBody>
          <a:bodyPr>
            <a:normAutofit/>
          </a:bodyPr>
          <a:lstStyle>
            <a:lvl1pPr marL="0" indent="0">
              <a:buNone/>
              <a:defRPr sz="21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7DE89-02BE-4CF0-A722-B4EE897B5472}" type="datetime1">
              <a:rPr lang="en-US" smtClean="0"/>
              <a:t>9/6/2025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EB0A-9E3D-4B14-9782-E2AE3DA60D96}" type="slidenum">
              <a:rPr lang="en-US" smtClean="0"/>
              <a:pPr/>
              <a:t>‹N›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 rot="5400000">
            <a:off x="1677194" y="2514600"/>
            <a:ext cx="3810000" cy="1588"/>
          </a:xfrm>
          <a:prstGeom prst="line">
            <a:avLst/>
          </a:prstGeom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8952" y="4572000"/>
            <a:ext cx="6784848" cy="1600200"/>
          </a:xfrm>
        </p:spPr>
        <p:txBody>
          <a:bodyPr anchor="b">
            <a:normAutofit/>
          </a:bodyPr>
          <a:lstStyle>
            <a:lvl1pPr algn="l">
              <a:defRPr sz="5400" b="0"/>
            </a:lvl1pPr>
          </a:lstStyle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777240" y="457200"/>
            <a:ext cx="7543800" cy="2895600"/>
          </a:xfrm>
          <a:ln w="6350">
            <a:solidFill>
              <a:schemeClr val="tx2"/>
            </a:solidFill>
          </a:ln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 smtClean="0"/>
              <a:t>Fare clic sull'icona per inserire un'immagine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0392" y="3505200"/>
            <a:ext cx="7391400" cy="804862"/>
          </a:xfrm>
        </p:spPr>
        <p:txBody>
          <a:bodyPr anchor="t" anchorCtr="0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D60E4-023A-415E-8850-B8C40AE2A449}" type="datetime1">
              <a:rPr lang="en-US" smtClean="0"/>
              <a:t>9/6/2025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EB0A-9E3D-4B14-9782-E2AE3DA60D96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685800"/>
            <a:ext cx="7239000" cy="3886200"/>
          </a:xfrm>
        </p:spPr>
        <p:txBody>
          <a:bodyPr vert="eaVert" anchor="t" anchorCtr="0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80E4B-A991-473A-A625-A8D8D1EDA7A8}" type="datetime1">
              <a:rPr lang="en-US" smtClean="0"/>
              <a:t>9/6/2025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EB0A-9E3D-4B14-9782-E2AE3DA60D96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2000" y="685801"/>
            <a:ext cx="1828800" cy="5410199"/>
          </a:xfrm>
        </p:spPr>
        <p:txBody>
          <a:bodyPr vert="eaVert"/>
          <a:lstStyle/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90800" y="685801"/>
            <a:ext cx="5715000" cy="4876800"/>
          </a:xfrm>
        </p:spPr>
        <p:txBody>
          <a:bodyPr vert="eaVert" anchor="t" anchorCtr="0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B783D-A304-4DCF-B770-A8C31F528CAE}" type="datetime1">
              <a:rPr lang="en-US" smtClean="0"/>
              <a:t>9/6/2025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EB0A-9E3D-4B14-9782-E2AE3DA60D96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2000" y="4572000"/>
            <a:ext cx="6781800" cy="16002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685800"/>
            <a:ext cx="7543800" cy="388620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48400" y="620877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2">
                    <a:lumMod val="90000"/>
                    <a:lumOff val="10000"/>
                  </a:schemeClr>
                </a:solidFill>
                <a:latin typeface="+mn-lt"/>
              </a:defRPr>
            </a:lvl1pPr>
          </a:lstStyle>
          <a:p>
            <a:fld id="{91EC19B4-E798-43E5-A195-FFD43EC79E43}" type="datetime1">
              <a:rPr lang="en-US" smtClean="0"/>
              <a:t>9/6/2025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61999" y="6208776"/>
            <a:ext cx="487386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5687568"/>
            <a:ext cx="762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fld id="{BFEBEB0A-9E3D-4B14-9782-E2AE3DA60D96}" type="slidenum">
              <a:rPr lang="en-US" smtClean="0"/>
              <a:pPr/>
              <a:t>‹N›</a:t>
            </a:fld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777240" y="0"/>
            <a:ext cx="7543800" cy="381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7240" y="6172200"/>
            <a:ext cx="7543800" cy="274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54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94360" indent="-27432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6868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64592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1901952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219456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8pPr>
      <a:lvl9pPr marL="246888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emf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learningapps.org/" TargetMode="Externa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wordwall.net/it" TargetMode="Externa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www.panquiz.com/" TargetMode="Externa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s://app.reasyedu.com/" TargetMode="Externa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1115616" y="620688"/>
            <a:ext cx="8640960" cy="1524000"/>
          </a:xfrm>
        </p:spPr>
        <p:txBody>
          <a:bodyPr/>
          <a:lstStyle/>
          <a:p>
            <a:r>
              <a:rPr lang="it-IT" sz="5400" dirty="0">
                <a:solidFill>
                  <a:schemeClr val="bg1"/>
                </a:solidFill>
              </a:rPr>
              <a:t>RISORSE DIDATTICHE </a:t>
            </a:r>
            <a:r>
              <a:rPr lang="it-IT" sz="5400" dirty="0" smtClean="0">
                <a:solidFill>
                  <a:schemeClr val="bg1"/>
                </a:solidFill>
              </a:rPr>
              <a:t>PER</a:t>
            </a:r>
            <a:br>
              <a:rPr lang="it-IT" sz="5400" dirty="0" smtClean="0">
                <a:solidFill>
                  <a:schemeClr val="bg1"/>
                </a:solidFill>
              </a:rPr>
            </a:br>
            <a:r>
              <a:rPr lang="it-IT" sz="5400" dirty="0" smtClean="0">
                <a:solidFill>
                  <a:schemeClr val="bg1"/>
                </a:solidFill>
              </a:rPr>
              <a:t>UNA SCUOLA INTERATTIVA</a:t>
            </a:r>
            <a:endParaRPr lang="it-IT" sz="5400" dirty="0">
              <a:solidFill>
                <a:schemeClr val="bg1"/>
              </a:solidFill>
            </a:endParaRPr>
          </a:p>
        </p:txBody>
      </p:sp>
      <p:sp>
        <p:nvSpPr>
          <p:cNvPr id="3" name="AutoShape 2" descr="Materiale didattico – Risorse utili per la DDI – IC RONCAD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  <p:sp>
        <p:nvSpPr>
          <p:cNvPr id="4" name="AutoShape 4" descr="Materiale didattico – Risorse utili per la DDI – IC RONCADE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0898" y="4509120"/>
            <a:ext cx="4623102" cy="2348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3140968"/>
            <a:ext cx="4520899" cy="24705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04035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1602" y="771527"/>
            <a:ext cx="2718354" cy="20713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825714"/>
            <a:ext cx="9139956" cy="40322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CasellaDiTesto 2"/>
          <p:cNvSpPr txBox="1"/>
          <p:nvPr/>
        </p:nvSpPr>
        <p:spPr>
          <a:xfrm>
            <a:off x="179512" y="869779"/>
            <a:ext cx="64492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3200" b="1" dirty="0" smtClean="0"/>
              <a:t>ESERCIZI DIDATTICI DIGITALI</a:t>
            </a:r>
            <a:endParaRPr lang="it-IT" sz="3200" b="1" dirty="0"/>
          </a:p>
        </p:txBody>
      </p:sp>
    </p:spTree>
    <p:extLst>
      <p:ext uri="{BB962C8B-B14F-4D97-AF65-F5344CB8AC3E}">
        <p14:creationId xmlns:p14="http://schemas.microsoft.com/office/powerpoint/2010/main" val="1667483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124744"/>
            <a:ext cx="8784976" cy="46805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28268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332"/>
            <a:ext cx="9144000" cy="33123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314699"/>
            <a:ext cx="7236296" cy="3543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3605" y="4581128"/>
            <a:ext cx="2550396" cy="1859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05983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608" y="1196752"/>
            <a:ext cx="9145772" cy="49325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16984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363" y="1700808"/>
            <a:ext cx="9123445" cy="45365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92633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91" y="1412776"/>
            <a:ext cx="9073009" cy="48082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5239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92696"/>
            <a:ext cx="9115215" cy="55446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0629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tangolo 2"/>
          <p:cNvSpPr/>
          <p:nvPr/>
        </p:nvSpPr>
        <p:spPr>
          <a:xfrm>
            <a:off x="179512" y="1123003"/>
            <a:ext cx="8856984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t-IT" sz="2000" dirty="0"/>
              <a:t>E’ una versione italiana di </a:t>
            </a:r>
            <a:r>
              <a:rPr lang="it-IT" sz="2000" dirty="0" err="1"/>
              <a:t>Kahoot</a:t>
            </a:r>
            <a:r>
              <a:rPr lang="it-IT" sz="2000" dirty="0"/>
              <a:t>. Si tratta di un applicativo </a:t>
            </a:r>
            <a:r>
              <a:rPr lang="it-IT" sz="2000" dirty="0" smtClean="0"/>
              <a:t>on-line, totalmente gratuito, che permette </a:t>
            </a:r>
            <a:r>
              <a:rPr lang="it-IT" sz="2000" dirty="0"/>
              <a:t>di creare questionari, quiz, test e verifiche formative </a:t>
            </a:r>
            <a:r>
              <a:rPr lang="it-IT" sz="2000" dirty="0" smtClean="0"/>
              <a:t>da svolgere </a:t>
            </a:r>
            <a:r>
              <a:rPr lang="it-IT" sz="2000" dirty="0"/>
              <a:t>in tempo reale. </a:t>
            </a:r>
            <a:endParaRPr lang="it-IT" sz="2000" dirty="0" smtClean="0"/>
          </a:p>
          <a:p>
            <a:pPr algn="just"/>
            <a:r>
              <a:rPr lang="it-IT" sz="2000" dirty="0" smtClean="0"/>
              <a:t>Si può proiettare </a:t>
            </a:r>
            <a:r>
              <a:rPr lang="it-IT" sz="2000" dirty="0"/>
              <a:t>il lavoro multimediale </a:t>
            </a:r>
            <a:r>
              <a:rPr lang="it-IT" sz="2000" dirty="0" smtClean="0"/>
              <a:t>creato alla </a:t>
            </a:r>
            <a:r>
              <a:rPr lang="it-IT" sz="2000" dirty="0" err="1"/>
              <a:t>Lim</a:t>
            </a:r>
            <a:r>
              <a:rPr lang="it-IT" sz="2000" dirty="0"/>
              <a:t> e gli studenti possono rispondere direttamente </a:t>
            </a:r>
            <a:r>
              <a:rPr lang="it-IT" sz="2000" dirty="0" smtClean="0"/>
              <a:t>da </a:t>
            </a:r>
            <a:r>
              <a:rPr lang="it-IT" sz="2000" dirty="0" err="1" smtClean="0"/>
              <a:t>smartphone</a:t>
            </a:r>
            <a:r>
              <a:rPr lang="it-IT" sz="2000" dirty="0" smtClean="0"/>
              <a:t>/</a:t>
            </a:r>
            <a:r>
              <a:rPr lang="it-IT" sz="2000" dirty="0" err="1" smtClean="0"/>
              <a:t>tablet</a:t>
            </a:r>
            <a:r>
              <a:rPr lang="it-IT" sz="2000" dirty="0"/>
              <a:t>.</a:t>
            </a:r>
          </a:p>
          <a:p>
            <a:pPr algn="just"/>
            <a:endParaRPr lang="it-IT" sz="2000" dirty="0" smtClean="0"/>
          </a:p>
          <a:p>
            <a:pPr algn="just"/>
            <a:r>
              <a:rPr lang="it-IT" sz="2000" dirty="0" smtClean="0"/>
              <a:t>Dalla </a:t>
            </a:r>
            <a:r>
              <a:rPr lang="it-IT" sz="2000" dirty="0"/>
              <a:t>sezione ispirazione si possono trarre spunti da copiare o duplicare.</a:t>
            </a:r>
          </a:p>
          <a:p>
            <a:pPr algn="just"/>
            <a:r>
              <a:rPr lang="it-IT" sz="2000" dirty="0"/>
              <a:t>Si possono creare domande con risposte anche multiple; si </a:t>
            </a:r>
            <a:r>
              <a:rPr lang="it-IT" sz="2000" dirty="0" smtClean="0"/>
              <a:t>possono aggiungere </a:t>
            </a:r>
            <a:r>
              <a:rPr lang="it-IT" sz="2000" dirty="0"/>
              <a:t>immagini e musiche; c’è la lettura automatica delle </a:t>
            </a:r>
            <a:r>
              <a:rPr lang="it-IT" sz="2000" dirty="0" smtClean="0"/>
              <a:t>domande a </a:t>
            </a:r>
            <a:r>
              <a:rPr lang="it-IT" sz="2000" dirty="0"/>
              <a:t>voce alta e in più lingue. È possibile condividere i questionari ad </a:t>
            </a:r>
            <a:r>
              <a:rPr lang="it-IT" sz="2000" dirty="0" smtClean="0"/>
              <a:t>altri attraverso </a:t>
            </a:r>
            <a:r>
              <a:rPr lang="it-IT" sz="2000" dirty="0"/>
              <a:t>PIN, link o QR code, ma anche su </a:t>
            </a:r>
            <a:r>
              <a:rPr lang="it-IT" sz="2000" dirty="0" err="1"/>
              <a:t>Classroom</a:t>
            </a:r>
            <a:r>
              <a:rPr lang="it-IT" sz="2000" dirty="0"/>
              <a:t>.</a:t>
            </a:r>
          </a:p>
          <a:p>
            <a:pPr algn="just"/>
            <a:endParaRPr lang="it-IT" sz="2000" dirty="0" smtClean="0">
              <a:hlinkClick r:id="rId2"/>
            </a:endParaRPr>
          </a:p>
          <a:p>
            <a:pPr algn="just"/>
            <a:r>
              <a:rPr lang="it-IT" sz="2000" dirty="0" smtClean="0">
                <a:hlinkClick r:id="rId2"/>
              </a:rPr>
              <a:t>https</a:t>
            </a:r>
            <a:r>
              <a:rPr lang="it-IT" sz="2000" dirty="0">
                <a:hlinkClick r:id="rId2"/>
              </a:rPr>
              <a:t>://www.panquiz.com/</a:t>
            </a:r>
            <a:endParaRPr lang="it-IT" sz="2000" dirty="0"/>
          </a:p>
        </p:txBody>
      </p:sp>
      <p:sp>
        <p:nvSpPr>
          <p:cNvPr id="4" name="CasellaDiTesto 3"/>
          <p:cNvSpPr txBox="1"/>
          <p:nvPr/>
        </p:nvSpPr>
        <p:spPr>
          <a:xfrm>
            <a:off x="3360906" y="476672"/>
            <a:ext cx="24331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3600" b="1" dirty="0" smtClean="0"/>
              <a:t>PANQUIZ!</a:t>
            </a:r>
            <a:endParaRPr lang="it-IT" sz="3600" b="1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4008" y="4530532"/>
            <a:ext cx="2885298" cy="21822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93364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548680"/>
            <a:ext cx="8510947" cy="5904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33984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767" y="620688"/>
            <a:ext cx="8723161" cy="5904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83173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052736"/>
            <a:ext cx="8863375" cy="54005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84222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arta di giornale">
  <a:themeElements>
    <a:clrScheme name="NewsPrint">
      <a:dk1>
        <a:sysClr val="windowText" lastClr="000000"/>
      </a:dk1>
      <a:lt1>
        <a:sysClr val="window" lastClr="FFFFFF"/>
      </a:lt1>
      <a:dk2>
        <a:srgbClr val="303030"/>
      </a:dk2>
      <a:lt2>
        <a:srgbClr val="DEDEE0"/>
      </a:lt2>
      <a:accent1>
        <a:srgbClr val="AD0101"/>
      </a:accent1>
      <a:accent2>
        <a:srgbClr val="726056"/>
      </a:accent2>
      <a:accent3>
        <a:srgbClr val="AC956E"/>
      </a:accent3>
      <a:accent4>
        <a:srgbClr val="808DA9"/>
      </a:accent4>
      <a:accent5>
        <a:srgbClr val="424E5B"/>
      </a:accent5>
      <a:accent6>
        <a:srgbClr val="730E00"/>
      </a:accent6>
      <a:hlink>
        <a:srgbClr val="D26900"/>
      </a:hlink>
      <a:folHlink>
        <a:srgbClr val="D89243"/>
      </a:folHlink>
    </a:clrScheme>
    <a:fontScheme name="NewsPrint">
      <a:majorFont>
        <a:latin typeface="Impact"/>
        <a:ea typeface=""/>
        <a:cs typeface=""/>
        <a:font script="Jpan" typeface="HGP創英角ｺﾞｼｯｸUB"/>
        <a:font script="Hang" typeface="HY견고딕"/>
        <a:font script="Hans" typeface="微软雅黑"/>
        <a:font script="Hant" typeface="微軟正黑體"/>
        <a:font script="Arab" typeface="Tahoma"/>
        <a:font script="Hebr" typeface="To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NewsPrint">
      <a:fillStyleLst>
        <a:solidFill>
          <a:schemeClr val="phClr"/>
        </a:solidFill>
        <a:gradFill rotWithShape="1">
          <a:gsLst>
            <a:gs pos="0">
              <a:schemeClr val="phClr">
                <a:tint val="37000"/>
                <a:hueMod val="100000"/>
                <a:satMod val="200000"/>
                <a:lumMod val="88000"/>
              </a:schemeClr>
            </a:gs>
            <a:gs pos="100000">
              <a:schemeClr val="phClr">
                <a:tint val="53000"/>
                <a:shade val="100000"/>
                <a:hueMod val="100000"/>
                <a:satMod val="350000"/>
                <a:lumMod val="79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83000"/>
                <a:shade val="100000"/>
                <a:alpha val="100000"/>
                <a:hueMod val="100000"/>
                <a:satMod val="220000"/>
                <a:lumMod val="90000"/>
              </a:schemeClr>
            </a:gs>
            <a:gs pos="76000">
              <a:schemeClr val="phClr">
                <a:shade val="100000"/>
              </a:schemeClr>
            </a:gs>
            <a:gs pos="100000">
              <a:schemeClr val="phClr">
                <a:shade val="93000"/>
                <a:alpha val="100000"/>
                <a:satMod val="100000"/>
                <a:lumMod val="93000"/>
              </a:schemeClr>
            </a:gs>
          </a:gsLst>
          <a:path path="circle">
            <a:fillToRect l="15000" t="15000" r="100000" b="100000"/>
          </a:path>
        </a:gradFill>
      </a:fillStyleLst>
      <a:lnStyleLst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12700" dir="528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2700">
            <a:bevelT w="31750" h="127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3000"/>
              </a:schemeClr>
            </a:gs>
            <a:gs pos="100000">
              <a:schemeClr val="phClr">
                <a:shade val="55000"/>
              </a:schemeClr>
            </a:gs>
          </a:gsLst>
          <a:lin ang="5400000" scaled="1"/>
        </a:gradFill>
        <a:blipFill rotWithShape="1">
          <a:blip xmlns:r="http://schemas.openxmlformats.org/officeDocument/2006/relationships" r:embed="rId1">
            <a:duotone>
              <a:schemeClr val="phClr">
                <a:shade val="20000"/>
                <a:satMod val="350000"/>
                <a:lumMod val="125000"/>
              </a:schemeClr>
              <a:schemeClr val="phClr">
                <a:tint val="90000"/>
                <a:satMod val="250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Newsprint</Template>
  <TotalTime>4278</TotalTime>
  <Words>129</Words>
  <Application>Microsoft Office PowerPoint</Application>
  <PresentationFormat>Presentazione su schermo (4:3)</PresentationFormat>
  <Paragraphs>11</Paragraphs>
  <Slides>12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12</vt:i4>
      </vt:variant>
    </vt:vector>
  </HeadingPairs>
  <TitlesOfParts>
    <vt:vector size="13" baseType="lpstr">
      <vt:lpstr>Carta di giornale</vt:lpstr>
      <vt:lpstr>RISORSE DIDATTICHE PER UNA SCUOLA INTERATTIVA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Utente pc</dc:creator>
  <cp:lastModifiedBy>Utente pc</cp:lastModifiedBy>
  <cp:revision>85</cp:revision>
  <dcterms:created xsi:type="dcterms:W3CDTF">2025-01-14T10:24:09Z</dcterms:created>
  <dcterms:modified xsi:type="dcterms:W3CDTF">2025-09-06T05:38:13Z</dcterms:modified>
</cp:coreProperties>
</file>