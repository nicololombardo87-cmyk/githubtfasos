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68" r:id="rId3"/>
    <p:sldId id="257" r:id="rId4"/>
    <p:sldId id="258" r:id="rId5"/>
    <p:sldId id="259" r:id="rId6"/>
    <p:sldId id="260" r:id="rId7"/>
    <p:sldId id="269" r:id="rId8"/>
    <p:sldId id="270" r:id="rId9"/>
    <p:sldId id="271" r:id="rId1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84F94-57A3-4B7D-8796-9AE439D9A6C3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05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E383-AD07-4E18-ABCD-75FF94D31563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6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913A-945A-4C22-81DB-4B0AA6E49EC8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32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1B4E-2129-4CC8-A22D-1729FE6AAE74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70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45CE1-8BDE-45C0-A6B2-9AB985F5E58F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92A23-FE53-4735-8EE9-A278B1D6BEDF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142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1EE6-40E8-41A8-807A-B9ED490F4644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42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DE89-02BE-4CF0-A722-B4EE897B5472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62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D60E4-023A-415E-8850-B8C40AE2A449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434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0E4B-A991-473A-A625-A8D8D1EDA7A8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17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B783D-A304-4DCF-B770-A8C31F528CAE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82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84F94-57A3-4B7D-8796-9AE439D9A6C3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436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E383-AD07-4E18-ABCD-75FF94D31563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57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913A-945A-4C22-81DB-4B0AA6E49EC8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324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1B4E-2129-4CC8-A22D-1729FE6AAE74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230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45CE1-8BDE-45C0-A6B2-9AB985F5E58F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43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92A23-FE53-4735-8EE9-A278B1D6BEDF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8371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1EE6-40E8-41A8-807A-B9ED490F4644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5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DE89-02BE-4CF0-A722-B4EE897B5472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152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D60E4-023A-415E-8850-B8C40AE2A449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9808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0E4B-A991-473A-A625-A8D8D1EDA7A8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437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B783D-A304-4DCF-B770-A8C31F528CAE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74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91EC19B4-E798-43E5-A195-FFD43EC79E43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48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91EC19B4-E798-43E5-A195-FFD43EC79E43}" type="datetime1">
              <a:rPr lang="en-US" smtClean="0">
                <a:solidFill>
                  <a:srgbClr val="303030">
                    <a:lumMod val="90000"/>
                    <a:lumOff val="10000"/>
                  </a:srgbClr>
                </a:solidFill>
              </a:rPr>
              <a:pPr/>
              <a:t>7/10/2025</a:t>
            </a:fld>
            <a:endParaRPr lang="en-US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>
              <a:solidFill>
                <a:srgbClr val="303030">
                  <a:lumMod val="90000"/>
                  <a:lumOff val="1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68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307975" y="1196752"/>
            <a:ext cx="8640960" cy="1524000"/>
          </a:xfrm>
        </p:spPr>
        <p:txBody>
          <a:bodyPr/>
          <a:lstStyle/>
          <a:p>
            <a:pPr algn="ctr"/>
            <a:r>
              <a:rPr lang="it-IT" sz="5400" dirty="0">
                <a:solidFill>
                  <a:schemeClr val="bg1"/>
                </a:solidFill>
              </a:rPr>
              <a:t>RISORSE DIDATTICHE </a:t>
            </a:r>
            <a:r>
              <a:rPr lang="it-IT" sz="5400" dirty="0" smtClean="0">
                <a:solidFill>
                  <a:schemeClr val="bg1"/>
                </a:solidFill>
              </a:rPr>
              <a:t>PER</a:t>
            </a:r>
            <a:br>
              <a:rPr lang="it-IT" sz="5400" dirty="0" smtClean="0">
                <a:solidFill>
                  <a:schemeClr val="bg1"/>
                </a:solidFill>
              </a:rPr>
            </a:br>
            <a:r>
              <a:rPr lang="it-IT" sz="5400" dirty="0" smtClean="0">
                <a:solidFill>
                  <a:schemeClr val="bg1"/>
                </a:solidFill>
              </a:rPr>
              <a:t>UNA SCUOLA  INCLUSIVA E INTERATTIVA</a:t>
            </a:r>
            <a:endParaRPr lang="it-IT" sz="5400" dirty="0">
              <a:solidFill>
                <a:schemeClr val="bg1"/>
              </a:solidFill>
            </a:endParaRPr>
          </a:p>
        </p:txBody>
      </p:sp>
      <p:sp>
        <p:nvSpPr>
          <p:cNvPr id="3" name="AutoShape 2" descr="Materiale didattico – Risorse utili per la DDI – IC RONCAD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4" name="AutoShape 4" descr="Materiale didattico – Risorse utili per la DDI – IC RONCAD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solidFill>
                <a:prstClr val="black"/>
              </a:solidFill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898" y="4509120"/>
            <a:ext cx="4623102" cy="2348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140968"/>
            <a:ext cx="4520899" cy="247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1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7968"/>
            <a:ext cx="9138890" cy="3669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1979712" y="692696"/>
            <a:ext cx="5472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600" b="1" dirty="0" smtClean="0">
                <a:solidFill>
                  <a:prstClr val="black"/>
                </a:solidFill>
              </a:rPr>
              <a:t>MAPPA CONCETTUALE</a:t>
            </a:r>
            <a:endParaRPr lang="it-IT" sz="36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8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251520" y="404664"/>
            <a:ext cx="8568952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3200" b="1" dirty="0">
                <a:solidFill>
                  <a:prstClr val="black"/>
                </a:solidFill>
              </a:rPr>
              <a:t>MAPPA </a:t>
            </a:r>
            <a:r>
              <a:rPr lang="it-IT" sz="3200" b="1" dirty="0" smtClean="0">
                <a:solidFill>
                  <a:prstClr val="black"/>
                </a:solidFill>
              </a:rPr>
              <a:t>CONCETTUALE</a:t>
            </a:r>
          </a:p>
          <a:p>
            <a:endParaRPr lang="it-IT" sz="2400" dirty="0">
              <a:solidFill>
                <a:prstClr val="black"/>
              </a:solidFill>
            </a:endParaRPr>
          </a:p>
          <a:p>
            <a:pPr algn="just"/>
            <a:r>
              <a:rPr lang="it-IT" sz="2300" dirty="0">
                <a:solidFill>
                  <a:prstClr val="black"/>
                </a:solidFill>
              </a:rPr>
              <a:t>Le mappe concettuali si basano sulle teorie di Joseph </a:t>
            </a:r>
            <a:r>
              <a:rPr lang="it-IT" sz="2300" dirty="0" smtClean="0">
                <a:solidFill>
                  <a:prstClr val="black"/>
                </a:solidFill>
              </a:rPr>
              <a:t>Novak sull’apprendimento </a:t>
            </a:r>
            <a:r>
              <a:rPr lang="it-IT" sz="2300" b="1" dirty="0" smtClean="0">
                <a:solidFill>
                  <a:prstClr val="black"/>
                </a:solidFill>
              </a:rPr>
              <a:t>significativo </a:t>
            </a:r>
            <a:r>
              <a:rPr lang="it-IT" sz="2300" dirty="0" smtClean="0">
                <a:solidFill>
                  <a:prstClr val="black"/>
                </a:solidFill>
              </a:rPr>
              <a:t>a </a:t>
            </a:r>
            <a:r>
              <a:rPr lang="it-IT" sz="2300" dirty="0">
                <a:solidFill>
                  <a:prstClr val="black"/>
                </a:solidFill>
              </a:rPr>
              <a:t>discapito di quello meccanico</a:t>
            </a:r>
            <a:r>
              <a:rPr lang="it-IT" sz="2300" dirty="0" smtClean="0">
                <a:solidFill>
                  <a:prstClr val="black"/>
                </a:solidFill>
              </a:rPr>
              <a:t>, in </a:t>
            </a:r>
            <a:r>
              <a:rPr lang="it-IT" sz="2300" dirty="0">
                <a:solidFill>
                  <a:prstClr val="black"/>
                </a:solidFill>
              </a:rPr>
              <a:t>cui lo studente costruisce intenzionalmente la </a:t>
            </a:r>
            <a:r>
              <a:rPr lang="it-IT" sz="2300" dirty="0" smtClean="0">
                <a:solidFill>
                  <a:prstClr val="black"/>
                </a:solidFill>
              </a:rPr>
              <a:t>propria cultura </a:t>
            </a:r>
            <a:r>
              <a:rPr lang="it-IT" sz="2300" dirty="0">
                <a:solidFill>
                  <a:prstClr val="black"/>
                </a:solidFill>
              </a:rPr>
              <a:t>mettendo in </a:t>
            </a:r>
            <a:r>
              <a:rPr lang="it-IT" sz="2300" b="1" dirty="0" smtClean="0">
                <a:solidFill>
                  <a:prstClr val="black"/>
                </a:solidFill>
              </a:rPr>
              <a:t>relazione </a:t>
            </a:r>
            <a:r>
              <a:rPr lang="it-IT" sz="2300" dirty="0" smtClean="0">
                <a:solidFill>
                  <a:prstClr val="black"/>
                </a:solidFill>
              </a:rPr>
              <a:t>le </a:t>
            </a:r>
            <a:r>
              <a:rPr lang="it-IT" sz="2300" dirty="0">
                <a:solidFill>
                  <a:prstClr val="black"/>
                </a:solidFill>
              </a:rPr>
              <a:t>proprie conoscenze</a:t>
            </a:r>
            <a:r>
              <a:rPr lang="it-IT" sz="2300" dirty="0" smtClean="0">
                <a:solidFill>
                  <a:prstClr val="black"/>
                </a:solidFill>
              </a:rPr>
              <a:t>. </a:t>
            </a:r>
          </a:p>
          <a:p>
            <a:pPr algn="just"/>
            <a:r>
              <a:rPr lang="it-IT" sz="2300" dirty="0" smtClean="0">
                <a:solidFill>
                  <a:prstClr val="black"/>
                </a:solidFill>
              </a:rPr>
              <a:t>Le </a:t>
            </a:r>
            <a:r>
              <a:rPr lang="it-IT" sz="2300" dirty="0">
                <a:solidFill>
                  <a:prstClr val="black"/>
                </a:solidFill>
              </a:rPr>
              <a:t>mappe si strutturano in</a:t>
            </a:r>
            <a:r>
              <a:rPr lang="it-IT" sz="2300" dirty="0" smtClean="0">
                <a:solidFill>
                  <a:prstClr val="black"/>
                </a:solidFill>
              </a:rPr>
              <a:t>:</a:t>
            </a:r>
          </a:p>
          <a:p>
            <a:pPr algn="just"/>
            <a:endParaRPr lang="it-IT" sz="2300" dirty="0">
              <a:solidFill>
                <a:prstClr val="black"/>
              </a:solidFill>
            </a:endParaRPr>
          </a:p>
          <a:p>
            <a:pPr algn="just"/>
            <a:r>
              <a:rPr lang="it-IT" sz="2300" dirty="0">
                <a:solidFill>
                  <a:prstClr val="black"/>
                </a:solidFill>
              </a:rPr>
              <a:t>•</a:t>
            </a:r>
            <a:r>
              <a:rPr lang="it-IT" sz="2300" i="1" dirty="0">
                <a:solidFill>
                  <a:prstClr val="black"/>
                </a:solidFill>
              </a:rPr>
              <a:t>Livelli di concetto (gerarchia, dall’alto in basso)</a:t>
            </a:r>
            <a:endParaRPr lang="it-IT" sz="2300" dirty="0">
              <a:solidFill>
                <a:prstClr val="black"/>
              </a:solidFill>
            </a:endParaRPr>
          </a:p>
          <a:p>
            <a:pPr algn="just"/>
            <a:r>
              <a:rPr lang="it-IT" sz="2300" dirty="0">
                <a:solidFill>
                  <a:prstClr val="black"/>
                </a:solidFill>
              </a:rPr>
              <a:t>•</a:t>
            </a:r>
            <a:r>
              <a:rPr lang="it-IT" sz="2300" i="1" dirty="0">
                <a:solidFill>
                  <a:prstClr val="black"/>
                </a:solidFill>
              </a:rPr>
              <a:t>Una o più parole chiave</a:t>
            </a:r>
            <a:endParaRPr lang="it-IT" sz="2300" dirty="0">
              <a:solidFill>
                <a:prstClr val="black"/>
              </a:solidFill>
            </a:endParaRPr>
          </a:p>
          <a:p>
            <a:pPr algn="just"/>
            <a:r>
              <a:rPr lang="it-IT" sz="2300" dirty="0">
                <a:solidFill>
                  <a:prstClr val="black"/>
                </a:solidFill>
              </a:rPr>
              <a:t>•</a:t>
            </a:r>
            <a:r>
              <a:rPr lang="it-IT" sz="2300" i="1" dirty="0">
                <a:solidFill>
                  <a:prstClr val="black"/>
                </a:solidFill>
              </a:rPr>
              <a:t>Collegamenti (causa-effetto, spaziali, temporali…)</a:t>
            </a:r>
            <a:endParaRPr lang="it-IT" sz="2300" dirty="0">
              <a:solidFill>
                <a:prstClr val="black"/>
              </a:solidFill>
            </a:endParaRPr>
          </a:p>
          <a:p>
            <a:pPr algn="just"/>
            <a:endParaRPr lang="it-IT" sz="2400" dirty="0">
              <a:solidFill>
                <a:prstClr val="black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324" y="4869160"/>
            <a:ext cx="2593676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ttangolo 2"/>
          <p:cNvSpPr/>
          <p:nvPr/>
        </p:nvSpPr>
        <p:spPr>
          <a:xfrm>
            <a:off x="13742" y="5052090"/>
            <a:ext cx="63367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ATTENZIONE!</a:t>
            </a:r>
            <a:r>
              <a:rPr lang="it-IT" sz="2000" dirty="0">
                <a:solidFill>
                  <a:prstClr val="black"/>
                </a:solidFill>
              </a:rPr>
              <a:t> Non sempre sono lo strumento ottimale in quanto lo studente potrebbe trovarla complessa, soprattutto se non è autoprodotta </a:t>
            </a:r>
          </a:p>
        </p:txBody>
      </p:sp>
    </p:spTree>
    <p:extLst>
      <p:ext uri="{BB962C8B-B14F-4D97-AF65-F5344CB8AC3E}">
        <p14:creationId xmlns:p14="http://schemas.microsoft.com/office/powerpoint/2010/main" val="374727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988840"/>
            <a:ext cx="9144001" cy="4252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2468378" y="836712"/>
            <a:ext cx="4207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smtClean="0">
                <a:solidFill>
                  <a:prstClr val="black"/>
                </a:solidFill>
              </a:rPr>
              <a:t>MAPPA MENTALE</a:t>
            </a:r>
            <a:endParaRPr lang="it-IT" sz="36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08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179512" y="1628800"/>
            <a:ext cx="864096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300" dirty="0">
                <a:solidFill>
                  <a:srgbClr val="000000"/>
                </a:solidFill>
              </a:rPr>
              <a:t>Le mappe mentali si basano sulle teorie dello psicologo </a:t>
            </a:r>
            <a:r>
              <a:rPr lang="it-IT" sz="2300" dirty="0" err="1" smtClean="0">
                <a:solidFill>
                  <a:srgbClr val="000000"/>
                </a:solidFill>
              </a:rPr>
              <a:t>Buzan</a:t>
            </a:r>
            <a:r>
              <a:rPr lang="it-IT" sz="2300" dirty="0" smtClean="0">
                <a:solidFill>
                  <a:srgbClr val="000000"/>
                </a:solidFill>
              </a:rPr>
              <a:t> come </a:t>
            </a:r>
            <a:r>
              <a:rPr lang="it-IT" sz="2300" dirty="0">
                <a:solidFill>
                  <a:srgbClr val="000000"/>
                </a:solidFill>
              </a:rPr>
              <a:t>strumenti per facilitare le relazioni mentali su </a:t>
            </a:r>
            <a:r>
              <a:rPr lang="it-IT" sz="2300" dirty="0" smtClean="0">
                <a:solidFill>
                  <a:srgbClr val="000000"/>
                </a:solidFill>
              </a:rPr>
              <a:t>un argomento </a:t>
            </a:r>
            <a:r>
              <a:rPr lang="it-IT" sz="2300" dirty="0">
                <a:solidFill>
                  <a:srgbClr val="000000"/>
                </a:solidFill>
              </a:rPr>
              <a:t>che si sta studiando. Le mappe non </a:t>
            </a:r>
            <a:r>
              <a:rPr lang="it-IT" sz="2300" dirty="0" smtClean="0">
                <a:solidFill>
                  <a:srgbClr val="000000"/>
                </a:solidFill>
              </a:rPr>
              <a:t>hanno una </a:t>
            </a:r>
            <a:r>
              <a:rPr lang="it-IT" sz="2300" dirty="0">
                <a:solidFill>
                  <a:srgbClr val="000000"/>
                </a:solidFill>
              </a:rPr>
              <a:t>struttura lineare ma procedono per </a:t>
            </a:r>
            <a:r>
              <a:rPr lang="it-IT" sz="2300" b="1" dirty="0">
                <a:solidFill>
                  <a:srgbClr val="000000"/>
                </a:solidFill>
              </a:rPr>
              <a:t>associazioni</a:t>
            </a:r>
            <a:r>
              <a:rPr lang="it-IT" sz="2300" dirty="0" smtClean="0">
                <a:solidFill>
                  <a:srgbClr val="000000"/>
                </a:solidFill>
              </a:rPr>
              <a:t>. Si </a:t>
            </a:r>
            <a:r>
              <a:rPr lang="it-IT" sz="2300" dirty="0">
                <a:solidFill>
                  <a:srgbClr val="000000"/>
                </a:solidFill>
              </a:rPr>
              <a:t>strutturano in</a:t>
            </a:r>
            <a:r>
              <a:rPr lang="it-IT" sz="2300" dirty="0" smtClean="0">
                <a:solidFill>
                  <a:srgbClr val="000000"/>
                </a:solidFill>
              </a:rPr>
              <a:t>:</a:t>
            </a:r>
          </a:p>
          <a:p>
            <a:pPr algn="just"/>
            <a:endParaRPr lang="it-IT" sz="2300" dirty="0">
              <a:solidFill>
                <a:srgbClr val="000000"/>
              </a:solidFill>
            </a:endParaRPr>
          </a:p>
          <a:p>
            <a:pPr algn="just"/>
            <a:r>
              <a:rPr lang="it-IT" sz="2300" dirty="0">
                <a:solidFill>
                  <a:srgbClr val="000000"/>
                </a:solidFill>
              </a:rPr>
              <a:t>•</a:t>
            </a:r>
            <a:r>
              <a:rPr lang="it-IT" sz="2300" i="1" dirty="0">
                <a:solidFill>
                  <a:srgbClr val="000000"/>
                </a:solidFill>
              </a:rPr>
              <a:t>Gerarchia radiale</a:t>
            </a:r>
            <a:endParaRPr lang="it-IT" sz="2300" dirty="0">
              <a:solidFill>
                <a:srgbClr val="000000"/>
              </a:solidFill>
            </a:endParaRPr>
          </a:p>
          <a:p>
            <a:pPr algn="just"/>
            <a:r>
              <a:rPr lang="it-IT" sz="2300" dirty="0">
                <a:solidFill>
                  <a:srgbClr val="000000"/>
                </a:solidFill>
              </a:rPr>
              <a:t>•</a:t>
            </a:r>
            <a:r>
              <a:rPr lang="it-IT" sz="2300" i="1" dirty="0">
                <a:solidFill>
                  <a:srgbClr val="000000"/>
                </a:solidFill>
              </a:rPr>
              <a:t>Una parola chiave</a:t>
            </a:r>
            <a:endParaRPr lang="it-IT" sz="2300" dirty="0">
              <a:solidFill>
                <a:srgbClr val="000000"/>
              </a:solidFill>
            </a:endParaRPr>
          </a:p>
          <a:p>
            <a:pPr algn="just"/>
            <a:r>
              <a:rPr lang="it-IT" sz="2300" dirty="0">
                <a:solidFill>
                  <a:srgbClr val="000000"/>
                </a:solidFill>
              </a:rPr>
              <a:t>•</a:t>
            </a:r>
            <a:r>
              <a:rPr lang="it-IT" sz="2300" i="1" dirty="0">
                <a:solidFill>
                  <a:srgbClr val="000000"/>
                </a:solidFill>
              </a:rPr>
              <a:t>Associazioni creative (forte componente grafica!)</a:t>
            </a:r>
            <a:endParaRPr lang="it-IT" sz="2300" dirty="0">
              <a:solidFill>
                <a:srgbClr val="0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5092651"/>
            <a:ext cx="3028950" cy="1765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ttangolo 2"/>
          <p:cNvSpPr/>
          <p:nvPr/>
        </p:nvSpPr>
        <p:spPr>
          <a:xfrm>
            <a:off x="323528" y="4822279"/>
            <a:ext cx="56166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000" dirty="0">
                <a:solidFill>
                  <a:prstClr val="black"/>
                </a:solidFill>
              </a:rPr>
              <a:t>Le mappe mentali facilitano la comprensione di un argomento per lo studente, sono veloci ed immediate, tuttavia non sono </a:t>
            </a:r>
            <a:r>
              <a:rPr lang="it-IT" sz="2000" dirty="0" smtClean="0">
                <a:solidFill>
                  <a:prstClr val="black"/>
                </a:solidFill>
              </a:rPr>
              <a:t>approfondite come </a:t>
            </a:r>
            <a:r>
              <a:rPr lang="it-IT" sz="2000" dirty="0">
                <a:solidFill>
                  <a:prstClr val="black"/>
                </a:solidFill>
              </a:rPr>
              <a:t>le mappe concettuali.</a:t>
            </a:r>
          </a:p>
        </p:txBody>
      </p:sp>
      <p:sp>
        <p:nvSpPr>
          <p:cNvPr id="4" name="Rettangolo 3"/>
          <p:cNvSpPr/>
          <p:nvPr/>
        </p:nvSpPr>
        <p:spPr>
          <a:xfrm>
            <a:off x="1835696" y="692696"/>
            <a:ext cx="51480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3200" b="1" dirty="0">
                <a:solidFill>
                  <a:prstClr val="black"/>
                </a:solidFill>
              </a:rPr>
              <a:t>MAPPA </a:t>
            </a:r>
            <a:r>
              <a:rPr lang="it-IT" sz="3200" b="1" dirty="0" smtClean="0">
                <a:solidFill>
                  <a:prstClr val="black"/>
                </a:solidFill>
              </a:rPr>
              <a:t>MENTALE</a:t>
            </a:r>
            <a:endParaRPr lang="it-IT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43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2" y="764704"/>
            <a:ext cx="8949354" cy="5616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806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0"/>
            <a:ext cx="835292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1603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5673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020866" cy="929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2550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a di giornal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arta di giornal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181</Words>
  <Application>Microsoft Office PowerPoint</Application>
  <PresentationFormat>Presentazione su schermo (4:3)</PresentationFormat>
  <Paragraphs>19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8</vt:i4>
      </vt:variant>
    </vt:vector>
  </HeadingPairs>
  <TitlesOfParts>
    <vt:vector size="10" baseType="lpstr">
      <vt:lpstr>Carta di giornale</vt:lpstr>
      <vt:lpstr>1_Carta di giornale</vt:lpstr>
      <vt:lpstr>RISORSE DIDATTICHE PER UNA SCUOLA  INCLUSIVA E INTERATTIVA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RISORSE DIDATTICHE PER UNA SCUOLA  INCLUSIVA E INTERATTIVA</dc:title>
  <dc:creator>Utente pc</dc:creator>
  <cp:lastModifiedBy>Utente pc</cp:lastModifiedBy>
  <cp:revision>6</cp:revision>
  <dcterms:created xsi:type="dcterms:W3CDTF">2025-03-06T10:42:45Z</dcterms:created>
  <dcterms:modified xsi:type="dcterms:W3CDTF">2025-07-10T10:26:48Z</dcterms:modified>
</cp:coreProperties>
</file>